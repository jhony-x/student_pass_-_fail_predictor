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Quattrocento Sans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1A1A"/>
              </a:solidFill>
              <a:effectLst/>
            </c:spPr>
          </c:dPt>
          <c:dPt>
            <c:idx val="1"/>
            <c:bubble3D val="0"/>
            <c:spPr>
              <a:solidFill>
                <a:srgbClr val="B8860B"/>
              </a:solidFill>
              <a:effectLst/>
            </c:spPr>
          </c:dPt>
          <c:dPt>
            <c:idx val="2"/>
            <c:bubble3D val="0"/>
            <c:spPr>
              <a:solidFill>
                <a:srgbClr val="6D0E0E"/>
              </a:solidFill>
              <a:effectLst/>
            </c:spPr>
          </c:dPt>
          <c:dPt>
            <c:idx val="3"/>
            <c:bubble3D val="0"/>
            <c:spPr>
              <a:solidFill>
                <a:srgbClr val="B85C5C"/>
              </a:solidFill>
              <a:effectLst/>
            </c:spPr>
          </c:dPt>
          <c:dPt>
            <c:idx val="4"/>
            <c:bubble3D val="0"/>
            <c:spPr>
              <a:solidFill>
                <a:srgbClr val="8B691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Attendance Rate</c:v>
                </c:pt>
                <c:pt idx="1">
                  <c:v>Study Hours</c:v>
                </c:pt>
                <c:pt idx="2">
                  <c:v>Prev. Grades</c:v>
                </c:pt>
                <c:pt idx="3">
                  <c:v>Sleep Quality</c:v>
                </c:pt>
                <c:pt idx="4">
                  <c:v>Stress Level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657600"/>
          </a:xfrm>
          <a:prstGeom prst="rect">
            <a:avLst/>
          </a:prstGeom>
          <a:gradFill rotWithShape="1" flip="none">
            <a:gsLst>
              <a:gs pos="0">
                <a:srgbClr val="5A0A0A"/>
              </a:gs>
              <a:gs pos="50000">
                <a:srgbClr val="8B1A1A"/>
              </a:gs>
              <a:gs pos="100000">
                <a:srgbClr val="A52020"/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685800" cy="685800"/>
          </a:xfrm>
          <a:prstGeom prst="ellipse">
            <a:avLst/>
          </a:prstGeom>
          <a:solidFill>
            <a:srgbClr val="FFFFFF">
              <a:alpha val="14510"/>
            </a:srgbClr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5600" y="431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NEUROGRADE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25600" y="787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 Blueprint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2286000" cy="4572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v2.4.0 Stable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133600"/>
            <a:ext cx="139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NeuroGrade AI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62000" y="29972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 &amp; IMPLEMENTATION BLUEPRINT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762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762000" y="4191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470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+ Flask + RF ML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0" y="4191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4000" y="4470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Yoni, H3B, Juccj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207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555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Application for Student Success Prediction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651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335000" y="4318000"/>
            <a:ext cx="2540000" cy="2540000"/>
          </a:xfrm>
          <a:prstGeom prst="rect">
            <a:avLst/>
          </a:prstGeom>
          <a:solidFill>
            <a:srgbClr val="8B1A1A">
              <a:alpha val="3137"/>
            </a:srgbClr>
          </a:solidFill>
          <a:ln w="12700">
            <a:solidFill>
              <a:srgbClr val="8B1A1A">
                <a:alpha val="12549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0" y="4699000"/>
            <a:ext cx="2032000" cy="2032000"/>
          </a:xfrm>
          <a:prstGeom prst="rect">
            <a:avLst/>
          </a:prstGeom>
          <a:solidFill>
            <a:srgbClr val="B8860B">
              <a:alpha val="3137"/>
            </a:srgbClr>
          </a:solidFill>
          <a:ln w="12700">
            <a:solidFill>
              <a:srgbClr val="B8860B">
                <a:alpha val="1451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890000"/>
            <a:ext cx="16256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525000" y="8509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Academic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9144000"/>
          </a:xfrm>
          <a:prstGeom prst="rect">
            <a:avLst/>
          </a:prstGeom>
          <a:gradFill rotWithShape="1" flip="none">
            <a:gsLst>
              <a:gs pos="0">
                <a:srgbClr val="5A0A0A"/>
              </a:gs>
              <a:gs pos="100000">
                <a:srgbClr val="8B1A1A"/>
              </a:gs>
            </a:gsLst>
            <a:lin ang="108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08000" y="33020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3149600"/>
            <a:ext cx="1016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61000" y="15240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000" y="19304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Overview &amp; Scientific Objective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1000" y="24384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5461000" y="26416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0" y="2641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Predictive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0" y="3048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Stack, Random Forest &amp; Benchmarking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1000" y="35560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461000" y="37592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3759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 &amp; API Security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000" y="4165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Schema, JWT Protection &amp; Security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61000" y="46736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5461000" y="48768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000" y="4876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&amp; User Experience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00" y="52832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Topology, Lifecycles &amp; Accessibility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61000" y="57912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461000" y="59944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0000" y="5994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&amp; Compliance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0000" y="64008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DevOps, QA, Privacy &amp; Strategic Roadmap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rotWithShape="1" flip="none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842000" y="3302000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Overview &amp; Scientific 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80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　Executive Summary &amp; Paradigm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42000" y="55118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　Scientific Objective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Executive Summary &amp; Scientific Objective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35000" y="1549400"/>
            <a:ext cx="14986000" cy="63500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18542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17272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Purpose: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NeuroGrade AI is a multi-layered ML application that predicts student success vectors, calculates risk index factors, and automates personalized pedagogical intervention strategies based on high-dimensional behavior attributes.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27686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26416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Technology: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Utilizes a custom Random Forest Classifier evaluating 19 behavioral variables — including sleep hygiene, study environments, stress indices, and attendance — rendering absolute risk vectors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91.4% accuracy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6830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35560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Decouples high-precision predictive pipelines from reactive interfaces, empowering institutions to intercept scholastic failure before it takes place through proactive, behavior-based, real-time lifestyle analysis.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5974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1219200" y="44704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Scientific Objective: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Shifts from basic historical grade extrapolation towards active, behavior-based, real-time lifestyle analysis, driving holistic interventions rather than reactive responses to academic decline.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55118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" y="53848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+ Vite frontend, Flask REST API backend, SQLAlchemy ORM database layer, Scikit-Learn Random Forest evaluation engine — fully decoupled for independent scaling and high security.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3600" y="6477000"/>
            <a:ext cx="145288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6800" y="6477000"/>
            <a:ext cx="1412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predicting failure before it occurs, NeuroGrade AI transforms institutional response from reactive remediation to proactive intervention — improving outcomes while reducing administrative burden.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rotWithShape="1" flip="none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842000" y="3302000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Predictive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Stack, Random Forest &amp; Benchmarking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80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　Decoupled 4-Layer Architecture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42000" y="55118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2.2　Predictive Intelligence &amp; Feature Vectors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42000" y="59436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　Algorithm Benchmarking &amp; Preprocessing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Decoupled 4-Layer Architecture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35000" y="1574800"/>
            <a:ext cx="7239000" cy="1651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000" y="1574800"/>
            <a:ext cx="660400" cy="6604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" y="1574800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73200" y="1651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" y="2286000"/>
            <a:ext cx="6781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 + React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Glassmorphic viewports with Vanilla CSS. Dynamic dashboards using Recharts for wellness indices, GPA gradients, and predictive dials.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1574800"/>
            <a:ext cx="7239000" cy="1651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82000" y="1574800"/>
            <a:ext cx="660400" cy="6604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1574800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0200" y="1651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Engine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5200" y="2311400"/>
            <a:ext cx="678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REST API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Secure JSON gateway handling request routing, JWT validation, database queries, and ML prediction payloads.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000" y="3479800"/>
            <a:ext cx="7239000" cy="1651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000" y="3479800"/>
            <a:ext cx="660400" cy="6604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5000" y="3479800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3200" y="3556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200" y="4216400"/>
            <a:ext cx="678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 ORM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Modular abstractions for SQLite development with instant deployment to enterprise PostgreSQL/MySQL clusters.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3479800"/>
            <a:ext cx="7239000" cy="1651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2000" y="3479800"/>
            <a:ext cx="660400" cy="6604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8382000" y="3479800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20200" y="3556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Engine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5200" y="4216400"/>
            <a:ext cx="678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Classifier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Local inference through deserialized joblib models generating pass probabilities within milliseconds.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5384800"/>
          <a:ext cx="14986000" cy="2540000"/>
        </p:xfrm>
        <a:graphic>
          <a:graphicData uri="http://schemas.openxmlformats.org/drawingml/2006/table">
            <a:tbl>
              <a:tblPr/>
              <a:tblGrid>
                <a:gridCol w="3746500"/>
                <a:gridCol w="5245100"/>
                <a:gridCol w="59944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System Layer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Tech Stack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Architectural Responsibility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Client UI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React, Vite, Vanilla CSS, Lucide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Renders dashboards, manages route guards, maintains local states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Controller Gateway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Flask, Flask-JWT-Extended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Validates session tokens, handles request routing, aggregates analytics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Intelligence Suite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Python, Scikit-Learn, Joblib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Performs real-time ML predictions and statistics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Database Schema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SQLAlchemy ORM, SQLite/MySQL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Maintains entity integrity, records prediction history log data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Predictive Intelligence &amp; Feature Vectors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35000" y="1574800"/>
            <a:ext cx="2794000" cy="1524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00" y="1651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91.4%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" y="24892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83000" y="1574800"/>
            <a:ext cx="2794000" cy="1524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3683000" y="1651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83000" y="24892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Variables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31000" y="1574800"/>
            <a:ext cx="2794000" cy="15240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23" name="Text 21"/>
          <p:cNvSpPr/>
          <p:nvPr/>
        </p:nvSpPr>
        <p:spPr>
          <a:xfrm>
            <a:off x="6731000" y="1651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1.4ms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0" y="24892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Latency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79000" y="1574800"/>
            <a:ext cx="2794000" cy="1524000"/>
          </a:xfrm>
          <a:prstGeom prst="rect">
            <a:avLst/>
          </a:prstGeom>
          <a:solidFill>
            <a:srgbClr val="5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9779000" y="1651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79000" y="24892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Feature Weight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827000" y="1574800"/>
            <a:ext cx="2794000" cy="1524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12827000" y="1651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92.1%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27000" y="24892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Score</a:t>
            </a:r>
            <a:endParaRPr lang="en-US" sz="16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35000" y="335280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7874000" y="3429000"/>
            <a:ext cx="774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Pipeline Analysis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874000" y="38100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7874000" y="3987800"/>
            <a:ext cx="7747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Rate (35%):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strongest predictor. When attendance drops below 75%, sleep and environmental factors become critical secondary predictors via Gini splits.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Hours (25%):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Second-most influential, particularly impactful when combined with consistent attendance above 90%.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Lifestyle Factors (22%):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Sleep quality and stress levels become dominant predictors when attendance is strong (&gt;90%).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Payloads parsed, scaled with pre-calculated weights, routed to pre-loaded classifier for ms-level predictions.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Algorithm Benchmarking &amp; Preprocessing Pipeline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35000" y="1498600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Classifier Comparison Results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905000"/>
          <a:ext cx="7366000" cy="3175000"/>
        </p:xfrm>
        <a:graphic>
          <a:graphicData uri="http://schemas.openxmlformats.org/drawingml/2006/table">
            <a:tbl>
              <a:tblPr/>
              <a:tblGrid>
                <a:gridCol w="2209800"/>
                <a:gridCol w="1178560"/>
                <a:gridCol w="1325880"/>
                <a:gridCol w="1325880"/>
                <a:gridCol w="1325880"/>
              </a:tblGrid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 Model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Precision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Latency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Explain.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91.4%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92.1%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1.4 ms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92.0%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90.8%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8.2 ms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87.6%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86.2%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4.1 ms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Minimal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 Tree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83.1%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82.0%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 ms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Extreme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Logistic Reg.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81.4%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80.5%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 ms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5000" y="52070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Focus: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XGBoost offered only 0.6% higher accuracy. Random Forest selected for fully transparent feature importance metrics via Gini weighting.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82000" y="1498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1905000"/>
            <a:ext cx="7239000" cy="4064000"/>
          </a:xfrm>
          <a:prstGeom prst="rect">
            <a:avLst/>
          </a:prstGeom>
          <a:solidFill>
            <a:srgbClr val="FFF5F5"/>
          </a:solidFill>
          <a:ln w="12700">
            <a:solidFill>
              <a:srgbClr val="8B1A1A">
                <a:alpha val="25098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63000" y="2133600"/>
            <a:ext cx="6477000" cy="660400"/>
          </a:xfrm>
          <a:prstGeom prst="roundRect">
            <a:avLst>
              <a:gd name="adj" fmla="val 4000"/>
            </a:avLst>
          </a:prstGeom>
          <a:solidFill>
            <a:srgbClr val="8B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8763000" y="2133600"/>
            <a:ext cx="6477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Null Imputation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Fill empty cells with column medians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001500" y="2794000"/>
            <a:ext cx="0" cy="228600"/>
          </a:xfrm>
          <a:prstGeom prst="straightConnector1">
            <a:avLst/>
          </a:prstGeom>
          <a:noFill/>
          <a:ln w="25400">
            <a:solidFill>
              <a:srgbClr val="8B1A1A"/>
            </a:solidFill>
            <a:prstDash val="solid"/>
            <a:headEnd type="none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8763000" y="3073400"/>
            <a:ext cx="6477000" cy="660400"/>
          </a:xfrm>
          <a:prstGeom prst="roundRect">
            <a:avLst>
              <a:gd name="adj" fmla="val 4000"/>
            </a:avLst>
          </a:prstGeom>
          <a:solidFill>
            <a:srgbClr val="B8860B"/>
          </a:solidFill>
          <a:ln/>
        </p:spPr>
      </p:sp>
      <p:sp>
        <p:nvSpPr>
          <p:cNvPr id="25" name="Text 22"/>
          <p:cNvSpPr/>
          <p:nvPr/>
        </p:nvSpPr>
        <p:spPr>
          <a:xfrm>
            <a:off x="8763000" y="3073400"/>
            <a:ext cx="6477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One-Hot Encoding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Categorical variables to binary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001500" y="3733800"/>
            <a:ext cx="0" cy="22860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arrow"/>
          </a:ln>
        </p:spPr>
      </p:sp>
      <p:sp>
        <p:nvSpPr>
          <p:cNvPr id="27" name="Shape 24"/>
          <p:cNvSpPr/>
          <p:nvPr/>
        </p:nvSpPr>
        <p:spPr>
          <a:xfrm>
            <a:off x="8763000" y="4013200"/>
            <a:ext cx="6477000" cy="660400"/>
          </a:xfrm>
          <a:prstGeom prst="roundRect">
            <a:avLst>
              <a:gd name="adj" fmla="val 4000"/>
            </a:avLst>
          </a:prstGeom>
          <a:solidFill>
            <a:srgbClr val="6D0E0E"/>
          </a:solidFill>
          <a:ln/>
        </p:spPr>
      </p:sp>
      <p:sp>
        <p:nvSpPr>
          <p:cNvPr id="28" name="Text 25"/>
          <p:cNvSpPr/>
          <p:nvPr/>
        </p:nvSpPr>
        <p:spPr>
          <a:xfrm>
            <a:off x="8763000" y="4013200"/>
            <a:ext cx="6477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StandardScaler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Normalize numerical features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2001500" y="4673600"/>
            <a:ext cx="0" cy="228600"/>
          </a:xfrm>
          <a:prstGeom prst="straightConnector1">
            <a:avLst/>
          </a:prstGeom>
          <a:noFill/>
          <a:ln w="25400">
            <a:solidFill>
              <a:srgbClr val="6D0E0E"/>
            </a:solidFill>
            <a:prstDash val="solid"/>
            <a:headEnd type="none"/>
            <a:tailEnd type="arrow"/>
          </a:ln>
        </p:spPr>
      </p:sp>
      <p:sp>
        <p:nvSpPr>
          <p:cNvPr id="30" name="Shape 27"/>
          <p:cNvSpPr/>
          <p:nvPr/>
        </p:nvSpPr>
        <p:spPr>
          <a:xfrm>
            <a:off x="8763000" y="4953000"/>
            <a:ext cx="6477000" cy="660400"/>
          </a:xfrm>
          <a:prstGeom prst="roundRect">
            <a:avLst>
              <a:gd name="adj" fmla="val 4000"/>
            </a:avLst>
          </a:prstGeom>
          <a:solidFill>
            <a:srgbClr val="5A0A0A"/>
          </a:solidFill>
          <a:ln/>
        </p:spPr>
      </p:sp>
      <p:sp>
        <p:nvSpPr>
          <p:cNvPr id="31" name="Text 28"/>
          <p:cNvSpPr/>
          <p:nvPr/>
        </p:nvSpPr>
        <p:spPr>
          <a:xfrm>
            <a:off x="8763000" y="4953000"/>
            <a:ext cx="6477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SMOTE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Balance dataset via synthetic oversampling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5000" y="6223000"/>
            <a:ext cx="149860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9000" y="6223000"/>
            <a:ext cx="1447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Standardization is crucial: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Scaling attributes ensures high-weight elements like study hours don't overwhelm lower-scale values like stress indices, maintaining balanced model input.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rotWithShape="1" flip="none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842000" y="3302000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 &amp; API 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Schema, JWT Protection &amp; Security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80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　Database Schema &amp; Entity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42000" y="55118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　Secured API Routing &amp; JWT Protection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42000" y="59436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3.3　Layered Security &amp; Prediction Controller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Schema &amp; Entity Design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35000" y="14986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Table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879600"/>
          <a:ext cx="7112000" cy="2667000"/>
        </p:xfrm>
        <a:graphic>
          <a:graphicData uri="http://schemas.openxmlformats.org/drawingml/2006/table">
            <a:tbl>
              <a:tblPr/>
              <a:tblGrid>
                <a:gridCol w="1564640"/>
                <a:gridCol w="1564640"/>
                <a:gridCol w="2133600"/>
                <a:gridCol w="184912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Column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Type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Constraint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Description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PK, Auto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Unique identifier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username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String(80)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Unique, Not Null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Student username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password_hash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String(255)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Salted password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major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String(120)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Academic department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382000" y="1498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PredictionRecord Table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879600"/>
          <a:ext cx="7239000" cy="2667000"/>
        </p:xfrm>
        <a:graphic>
          <a:graphicData uri="http://schemas.openxmlformats.org/drawingml/2006/table">
            <a:tbl>
              <a:tblPr/>
              <a:tblGrid>
                <a:gridCol w="1592580"/>
                <a:gridCol w="1592580"/>
                <a:gridCol w="2171700"/>
                <a:gridCol w="188214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Column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Type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Constraint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Description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Serial identifier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user_id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FK (Cascades)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References User.id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probability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Float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Pass chance 0.0-1.0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prediction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String(20)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'Pass' or 'Fail'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35000" y="4826000"/>
            <a:ext cx="14986000" cy="33020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" name="Text 17"/>
          <p:cNvSpPr/>
          <p:nvPr/>
        </p:nvSpPr>
        <p:spPr>
          <a:xfrm>
            <a:off x="889000" y="4953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 Design Principles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89000" y="53340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23" name="Shape 19"/>
          <p:cNvSpPr/>
          <p:nvPr/>
        </p:nvSpPr>
        <p:spPr>
          <a:xfrm>
            <a:off x="914400" y="55880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4" name="Text 20"/>
          <p:cNvSpPr/>
          <p:nvPr/>
        </p:nvSpPr>
        <p:spPr>
          <a:xfrm>
            <a:off x="1219200" y="5511800"/>
            <a:ext cx="673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Foreign-key constraints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map prediction history directly to individual user accounts with cascade deletion.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914400" y="62484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6" name="Text 22"/>
          <p:cNvSpPr/>
          <p:nvPr/>
        </p:nvSpPr>
        <p:spPr>
          <a:xfrm>
            <a:off x="1219200" y="6273800"/>
            <a:ext cx="673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Flask-SQLAlchemy ORM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clean relational design with modular abstractions for SQLite dev and PostgreSQL/MySQL production.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914400" y="69088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8" name="Text 24"/>
          <p:cNvSpPr/>
          <p:nvPr/>
        </p:nvSpPr>
        <p:spPr>
          <a:xfrm>
            <a:off x="1219200" y="7035800"/>
            <a:ext cx="673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indexes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(user_id, created_at) keep prediction history queries under 5ms at scale.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8407400" y="55880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0" name="Text 26"/>
          <p:cNvSpPr/>
          <p:nvPr/>
        </p:nvSpPr>
        <p:spPr>
          <a:xfrm>
            <a:off x="8712200" y="5511800"/>
            <a:ext cx="673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password hashing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salt ensures credential security even in database breach scenarios.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8407400" y="62484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2" name="Text 28"/>
          <p:cNvSpPr/>
          <p:nvPr/>
        </p:nvSpPr>
        <p:spPr>
          <a:xfrm>
            <a:off x="8712200" y="6273800"/>
            <a:ext cx="673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Alembic migration chains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version-control all schema changes — never run raw SQL on production databases.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8407400" y="6908800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4" name="Text 30"/>
          <p:cNvSpPr/>
          <p:nvPr/>
        </p:nvSpPr>
        <p:spPr>
          <a:xfrm>
            <a:off x="8712200" y="7035800"/>
            <a:ext cx="673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backups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pg_dump, gzip compression, and 14-day retention protect all user data.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Secured API Routing &amp; JWT Protection Matrix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549400"/>
          <a:ext cx="14986000" cy="3556000"/>
        </p:xfrm>
        <a:graphic>
          <a:graphicData uri="http://schemas.openxmlformats.org/drawingml/2006/table">
            <a:tbl>
              <a:tblPr/>
              <a:tblGrid>
                <a:gridCol w="4196080"/>
                <a:gridCol w="1798320"/>
                <a:gridCol w="2697480"/>
                <a:gridCol w="6294120"/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Endpoint Route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Method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Security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Operation Scope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/api/auth/register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886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Public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Validates details, hashes passwords, generates recommendations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/api/auth/login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886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Public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Checks credentials, returns secure JWT access token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/api/predict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B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Secured (JWT)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Runs ML inference on behavioral inputs, logs records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/api/dashboard/stats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B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Secured (JWT)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Retrieves aggregated history, trendlines, and averages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/api/history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B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Secured (JWT)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Provides all historical predictions for chronological view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35000" y="5334000"/>
            <a:ext cx="7239000" cy="3048000"/>
          </a:xfrm>
          <a:prstGeom prst="rect">
            <a:avLst/>
          </a:prstGeom>
          <a:solidFill>
            <a:srgbClr val="FFF5F5"/>
          </a:solidFill>
          <a:ln w="12700">
            <a:solidFill>
              <a:srgbClr val="8B1A1A">
                <a:alpha val="25098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9000" y="54610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Token Format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000" y="58420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889000" y="5994400"/>
            <a:ext cx="67310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requests require the authorization header: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2C2C2C"/>
                </a:solidFill>
                <a:highlight>
                  <a:srgbClr val="FFFFFF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Authorization: Bearer &lt;token&gt;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token contains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claims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verifying student identity using HS256-signed JWT.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Blocklist tables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revoke tokens on logout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prevent reuse.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2000" y="5334000"/>
            <a:ext cx="7239000" cy="3048000"/>
          </a:xfrm>
          <a:prstGeom prst="rect">
            <a:avLst/>
          </a:prstGeom>
          <a:solidFill>
            <a:srgbClr val="FFF8E6"/>
          </a:solidFill>
          <a:ln w="12700">
            <a:solidFill>
              <a:srgbClr val="B8860B">
                <a:alpha val="25098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36000" y="54610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Architecture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636000" y="58420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/>
          <p:nvPr/>
        </p:nvSpPr>
        <p:spPr>
          <a:xfrm>
            <a:off x="8636000" y="5994400"/>
            <a:ext cx="67310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Endpoint Privilege Separation: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 endpoints handle auth only. All data and prediction endpoints require valid JWT.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Lifecycle: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Tokens include expiration claims. Blocklist enables immediate revocation on logout.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Isolation: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request links to the active database profile via encrypted identity claims.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Layered Security &amp; Prediction Controller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35000" y="1498600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Security Policies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000" y="1930400"/>
            <a:ext cx="7366000" cy="10668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" y="1981200"/>
            <a:ext cx="695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Backend Authentication Shield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" y="2311400"/>
            <a:ext cx="695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Flask-JWT-Extended with HS256-signed tokens, custom identity payloads, and blocklist revocation on logout.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3149600"/>
            <a:ext cx="7366000" cy="10668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200" y="3200400"/>
            <a:ext cx="695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Frontend Axios Interceptors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" y="3530600"/>
            <a:ext cx="695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authorization header injection. 401 responses trigger token clearance and login redirect.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" y="4368800"/>
            <a:ext cx="7366000" cy="10668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200" y="4419600"/>
            <a:ext cx="695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CORS &amp; XSS Protection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" y="4749800"/>
            <a:ext cx="695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 request validation at both frontend and backend to prevent data tampering and cross-site scripting.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000" y="5613400"/>
            <a:ext cx="73660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200" y="5613400"/>
            <a:ext cx="6959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ALERT: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Never commit JWT_SECRET_KEY as plain text. Load secrets via environment variables or secure key vaults.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2000" y="1498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Controller Blueprint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1905000"/>
            <a:ext cx="7239000" cy="43180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0" name="Text 28"/>
          <p:cNvSpPr/>
          <p:nvPr/>
        </p:nvSpPr>
        <p:spPr>
          <a:xfrm>
            <a:off x="8585200" y="2006600"/>
            <a:ext cx="6832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@app.route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'/api/predict'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@jwt_required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7CE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predict_student_success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current_user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get_jwt_identity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 = request.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get_json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format_payload_to_ml_vector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(payload)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= ml_model.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predict_proba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([features])[0][1]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'Pass'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probability &gt;= 0.5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'Fail'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7CE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PredictionRecord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(user_id=current_user, ...)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db.session.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(record); db.session.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jsonify({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'probability'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probability, ...})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000" y="6477000"/>
            <a:ext cx="149860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9000" y="6477000"/>
            <a:ext cx="1447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 Isolation: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operations are enclosed in try/except blocks with automatic rollback on errors, preserving transaction integrity and preventing partial writes.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rotWithShape="1" flip="none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842000" y="3302000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&amp; User Experience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Topology, Lifecycles &amp; Accessibility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80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4.1　Frontend Component Topology &amp; UX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42000" y="55118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4.2　Student Lifecycles &amp; Route Guards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Frontend Component Topology &amp; UX Design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35000" y="1549400"/>
            <a:ext cx="4826000" cy="2921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200" y="1651000"/>
            <a:ext cx="44196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Glassmorphism Design Spec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" y="2057400"/>
            <a:ext cx="44196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rgba(255,255,255,0.08)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Blur: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16px backdrop-filter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Border: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1px rgba(255,255,255,0.15)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Shadow: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Subtle drop shadows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Transitions: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Framer Motion 0.3s easeOut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Aesthetic: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Clean, translucent glass cards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1549400"/>
            <a:ext cx="4826000" cy="1397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2800" y="1701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1600" y="1676400"/>
            <a:ext cx="3886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Wellness Gauge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18200" y="2108200"/>
            <a:ext cx="4419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Recharts PieChart with violet-to-purple gradients for sleep, environment, and stress scores.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1549400"/>
            <a:ext cx="4826000" cy="1397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98200" y="170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8B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1531600" y="1676400"/>
            <a:ext cx="3886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Timeline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98200" y="2108200"/>
            <a:ext cx="4419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Recharts LineChart showing pass probability trends with pulse animations on hover for multiple test events.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0" y="3149600"/>
            <a:ext cx="4826000" cy="1397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69000" y="3302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127000" y="279400"/>
                </a:moveTo>
                <a:lnTo>
                  <a:pt x="177800" y="279400"/>
                </a:lnTo>
                <a:cubicBezTo>
                  <a:pt x="212884" y="279400"/>
                  <a:pt x="241300" y="307816"/>
                  <a:pt x="241300" y="342900"/>
                </a:cubicBezTo>
                <a:cubicBezTo>
                  <a:pt x="241300" y="349885"/>
                  <a:pt x="235585" y="355600"/>
                  <a:pt x="228600" y="355600"/>
                </a:cubicBezTo>
                <a:lnTo>
                  <a:pt x="76200" y="355600"/>
                </a:lnTo>
                <a:cubicBezTo>
                  <a:pt x="69215" y="355600"/>
                  <a:pt x="63500" y="349885"/>
                  <a:pt x="63500" y="342900"/>
                </a:cubicBezTo>
                <a:cubicBezTo>
                  <a:pt x="63500" y="307816"/>
                  <a:pt x="91916" y="279400"/>
                  <a:pt x="127000" y="279400"/>
                </a:cubicBezTo>
                <a:close/>
                <a:moveTo>
                  <a:pt x="107950" y="203200"/>
                </a:moveTo>
                <a:cubicBezTo>
                  <a:pt x="107950" y="178667"/>
                  <a:pt x="127867" y="158750"/>
                  <a:pt x="152400" y="158750"/>
                </a:cubicBezTo>
                <a:cubicBezTo>
                  <a:pt x="176933" y="158750"/>
                  <a:pt x="196850" y="178667"/>
                  <a:pt x="196850" y="203200"/>
                </a:cubicBezTo>
                <a:cubicBezTo>
                  <a:pt x="196850" y="227733"/>
                  <a:pt x="176933" y="247650"/>
                  <a:pt x="152400" y="247650"/>
                </a:cubicBezTo>
                <a:cubicBezTo>
                  <a:pt x="127867" y="247650"/>
                  <a:pt x="107950" y="227733"/>
                  <a:pt x="107950" y="203200"/>
                </a:cubicBezTo>
                <a:close/>
                <a:moveTo>
                  <a:pt x="120650" y="50800"/>
                </a:moveTo>
                <a:lnTo>
                  <a:pt x="184150" y="50800"/>
                </a:lnTo>
                <a:cubicBezTo>
                  <a:pt x="194707" y="50800"/>
                  <a:pt x="203200" y="59293"/>
                  <a:pt x="203200" y="69850"/>
                </a:cubicBezTo>
                <a:cubicBezTo>
                  <a:pt x="203200" y="80407"/>
                  <a:pt x="194707" y="88900"/>
                  <a:pt x="184150" y="88900"/>
                </a:cubicBezTo>
                <a:lnTo>
                  <a:pt x="120650" y="88900"/>
                </a:lnTo>
                <a:cubicBezTo>
                  <a:pt x="110093" y="88900"/>
                  <a:pt x="101600" y="80407"/>
                  <a:pt x="101600" y="69850"/>
                </a:cubicBezTo>
                <a:cubicBezTo>
                  <a:pt x="101600" y="59293"/>
                  <a:pt x="110093" y="50800"/>
                  <a:pt x="120650" y="50800"/>
                </a:cubicBezTo>
                <a:close/>
              </a:path>
            </a:pathLst>
          </a:custGeom>
          <a:solidFill>
            <a:srgbClr val="8B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51600" y="3276600"/>
            <a:ext cx="3886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Badge Panel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18200" y="3708400"/>
            <a:ext cx="4419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Flexbox grid for achievements (e.g., 'Perfect Attendance') with hover opacity transitions.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795000" y="3149600"/>
            <a:ext cx="4826000" cy="1397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0" y="330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B8860B"/>
          </a:solidFill>
          <a:ln/>
        </p:spPr>
      </p:sp>
      <p:sp>
        <p:nvSpPr>
          <p:cNvPr id="33" name="Text 31"/>
          <p:cNvSpPr/>
          <p:nvPr/>
        </p:nvSpPr>
        <p:spPr>
          <a:xfrm>
            <a:off x="11531600" y="3276600"/>
            <a:ext cx="3886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5-Step Evaluation Wizard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98200" y="3708400"/>
            <a:ext cx="4419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data collection with fieldset tags and ARIA labels for screen reader support.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000" y="4749800"/>
            <a:ext cx="14986000" cy="17780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838200" y="4851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Micro-Animation &amp; Responsive Details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8200" y="52324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838200" y="53848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Framer Motion: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transitions use 0.3s easeOut for smooth, professional interactions across the UI.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15000" y="53848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Breakpoints: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@media at 640px, 768px, 1024px for seamless adaptation across devices.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591800" y="53848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WCAG 2.1 AA with 4.5:1 contrast ratio and comprehensive ARIA labels.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000" y="6731000"/>
            <a:ext cx="149860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9000" y="6731000"/>
            <a:ext cx="1447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Philosophy: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interface keeps students focused on academic metrics through clean aesthetics, glassmorphic cards, and engaging visual gauges — not decorative distractions.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Lifecycles &amp; Route Guards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35000" y="1549400"/>
            <a:ext cx="7239000" cy="6096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00" y="1549400"/>
            <a:ext cx="723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Newly Registered / Guest 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" y="2159000"/>
            <a:ext cx="7239000" cy="48260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2362200"/>
            <a:ext cx="6731000" cy="441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 Interception: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Unauthenticated users are redirected by React route guards to login/registration.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Wizard Interface: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Guests access the 5-Step Evaluation Wizard for initial risk assessment without account creation.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 Prompt: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initial prediction, guests are guided to register for longitudinal tracking and recommendations.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5000" y="1549400"/>
            <a:ext cx="7366000" cy="6096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8255000" y="1549400"/>
            <a:ext cx="736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/ Authenticated Flow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2159000"/>
            <a:ext cx="7366000" cy="482600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23" name="Text 21"/>
          <p:cNvSpPr/>
          <p:nvPr/>
        </p:nvSpPr>
        <p:spPr>
          <a:xfrm>
            <a:off x="8509000" y="2362200"/>
            <a:ext cx="6858000" cy="441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Token: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headers link every request to the active database profile for secure, personalized access.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Initialization: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sign-up, custom learning strategies initialize based on selected academic major.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Longitudinal Trends: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 charts, historical logs, achievement badges, and curated book lists and study guides.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000" y="7213600"/>
            <a:ext cx="149860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000" y="7213600"/>
            <a:ext cx="1447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Security Guards: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route guards check for token states in localStorage, automatically handling redirections to keep private pages secure from unauthorized access.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rotWithShape="1" flip="none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842000" y="3302000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&amp; Compliance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DevOps, QA, Privacy &amp; Strategic Roadmap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80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5.1　Production Containers &amp;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42000" y="55118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5.2　QA Testing &amp; Disaster Recovery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42000" y="59436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5.3　Data Privacy, Roadmap &amp; Personas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Production Containers &amp; Performance Strategy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35000" y="1498600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Multi-Stage Docker Production Build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000" y="1905000"/>
            <a:ext cx="7366000" cy="30480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" y="2006600"/>
            <a:ext cx="6959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python:3.10-slim 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builder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WORKDIR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/app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apt-get update &amp;&amp; apt-get install -y gcc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requirements.txt .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pip install --no-cache-dir --user -r requirements.txt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python:3.10-slim 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runner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--from=builder /root/.local /root/.local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EXPOSE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5000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CMD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"gunicorn"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"--bind"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"0.0.0.0:5000"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"app:app"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00" y="5080000"/>
            <a:ext cx="736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Multi-stage builds reduce runner image from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950MB to ~210MB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accelerating deployment times.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1498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Latency Reduction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1930400"/>
            <a:ext cx="7239000" cy="1143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9000" y="19812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17000" y="19812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Component Memoization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2362200"/>
            <a:ext cx="693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React.memo and useMemo prevent unnecessary re-renders, maintaining 60fps animations.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3225800"/>
            <a:ext cx="7239000" cy="1143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9000" y="32766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17000" y="3276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Server-Side Prediction Caching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3657600"/>
            <a:ext cx="693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caches identical payloads within 3 hours, skipping ML calculations.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4521200"/>
            <a:ext cx="7239000" cy="1143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9000" y="45720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17000" y="457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Composite Indexing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9000" y="4953000"/>
            <a:ext cx="693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indexes on (user_id, created_at) keep queries under 5ms at scale.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000" y="5969000"/>
            <a:ext cx="3556000" cy="1270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35000" y="6045200"/>
            <a:ext cx="355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950 → 210MB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000" y="67818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Image Reduction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45000" y="5969000"/>
            <a:ext cx="3556000" cy="1270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7" name="Text 35"/>
          <p:cNvSpPr/>
          <p:nvPr/>
        </p:nvSpPr>
        <p:spPr>
          <a:xfrm>
            <a:off x="4445000" y="6045200"/>
            <a:ext cx="355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5ms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45000" y="67818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 Query Time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5000" y="5969000"/>
            <a:ext cx="3556000" cy="12700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40" name="Text 38"/>
          <p:cNvSpPr/>
          <p:nvPr/>
        </p:nvSpPr>
        <p:spPr>
          <a:xfrm>
            <a:off x="8255000" y="6045200"/>
            <a:ext cx="355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 fps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55000" y="67818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 Target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065000" y="5969000"/>
            <a:ext cx="3556000" cy="1270000"/>
          </a:xfrm>
          <a:prstGeom prst="rect">
            <a:avLst/>
          </a:prstGeom>
          <a:solidFill>
            <a:srgbClr val="5A0A0A"/>
          </a:solidFill>
          <a:ln/>
        </p:spPr>
      </p:sp>
      <p:sp>
        <p:nvSpPr>
          <p:cNvPr id="43" name="Text 41"/>
          <p:cNvSpPr/>
          <p:nvPr/>
        </p:nvSpPr>
        <p:spPr>
          <a:xfrm>
            <a:off x="12065000" y="6045200"/>
            <a:ext cx="355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3h Cache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065000" y="67818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TTL Window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QA Testing &amp; Disaster Recovery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35000" y="1498600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Suite Coverage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905000"/>
          <a:ext cx="7366000" cy="2286000"/>
        </p:xfrm>
        <a:graphic>
          <a:graphicData uri="http://schemas.openxmlformats.org/drawingml/2006/table">
            <a:tbl>
              <a:tblPr/>
              <a:tblGrid>
                <a:gridCol w="2062480"/>
                <a:gridCol w="2651760"/>
                <a:gridCol w="265176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Test Suite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Tooling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Coverage Target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Backend Unit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Pytest, Coverage.py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94.2% Code Line Coverage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Client Render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Vitest, React Testing Library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88.0% Component Testing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End-to-End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Cypress Integration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 Critical Routes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5000" y="4394200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Pytest Endpoint Security Test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5000" y="4800600"/>
            <a:ext cx="7366000" cy="22860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0" name="Text 17"/>
          <p:cNvSpPr/>
          <p:nvPr/>
        </p:nvSpPr>
        <p:spPr>
          <a:xfrm>
            <a:off x="838200" y="4902200"/>
            <a:ext cx="69596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7CE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test_predict_endpoint_secured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(client):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Without auth headers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 = client.post(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'/api/predict'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json={...})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assert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resp.status_code ==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401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With valid JWT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= generate_test_jwt(user_id=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headers = {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'Authorization'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f'Bearer {token}'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 = client.post(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'/api/predict'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...)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assert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resp.status_code ==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assert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'probability'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resp.json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82000" y="1498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Disaster Recovery &amp; Backup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82000" y="1905000"/>
            <a:ext cx="7239000" cy="2540000"/>
          </a:xfrm>
          <a:prstGeom prst="rect">
            <a:avLst/>
          </a:prstGeom>
          <a:solidFill>
            <a:srgbClr val="FFF5F5"/>
          </a:solidFill>
          <a:ln w="12700">
            <a:solidFill>
              <a:srgbClr val="8B1A1A">
                <a:alpha val="25098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36000" y="20574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Backups: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pg_dump for MySQL/PostgreSQL compatibility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gzip compression for storage efficiency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14-day retention with automatic cleanup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 Migrations: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Alembic chains version-control schema changes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run raw SQL on production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82000" y="4673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Alembic Migration Policy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82000" y="5080000"/>
            <a:ext cx="7239000" cy="2057400"/>
          </a:xfrm>
          <a:prstGeom prst="rect">
            <a:avLst/>
          </a:prstGeom>
          <a:solidFill>
            <a:srgbClr val="FFF8E6"/>
          </a:solidFill>
          <a:ln w="12700">
            <a:solidFill>
              <a:srgbClr val="B8860B">
                <a:alpha val="25098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36000" y="5232400"/>
            <a:ext cx="6731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Command: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highlight>
                  <a:srgbClr val="FFFFFF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db migrate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Generate migrations from model changes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Test on staging before production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Maintain backward compatibility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scripts in version control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3" name="Shape 1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2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024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Data &amp;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Frontend &amp; 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0048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Privacy Compliance &amp; Product Roadmap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35000" y="1498600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Compliance Matrix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905000"/>
          <a:ext cx="7366000" cy="2794000"/>
        </p:xfrm>
        <a:graphic>
          <a:graphicData uri="http://schemas.openxmlformats.org/drawingml/2006/table">
            <a:tbl>
              <a:tblPr/>
              <a:tblGrid>
                <a:gridCol w="1620520"/>
                <a:gridCol w="2209800"/>
                <a:gridCol w="353568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Regulation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Implementation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FERPA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 record access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Only verified accounts view historical grades and predictions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GDPR Art. 17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Right to be Forgotten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'Delete Account' option wipes all personal records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GDPR Art. 15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Right of Access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'Export Profile' downloads all metrics as JSON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SOC2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Encryption at Rest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AES-256 on storage, HTTPS-only API connections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35000" y="4902200"/>
            <a:ext cx="7366000" cy="1016000"/>
          </a:xfrm>
          <a:prstGeom prst="rect">
            <a:avLst/>
          </a:prstGeom>
          <a:solidFill>
            <a:srgbClr val="FFF5F5"/>
          </a:solidFill>
          <a:ln w="12700">
            <a:solidFill>
              <a:srgbClr val="8B1A1A">
                <a:alpha val="2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8200" y="4978400"/>
            <a:ext cx="6959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WCAG 2.1 AA with 4.5:1 contrast, ARIA labels, responsive breakpoints at 640/768/1024px, and React-i18next for translations.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82000" y="1498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Product Roadmap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2000" y="1930400"/>
            <a:ext cx="7239000" cy="6604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8585200" y="1930400"/>
            <a:ext cx="6832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 Basic Predictor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COMPLETED — Stabilized RF inference, secured REST API, core dashboard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82000" y="2692400"/>
            <a:ext cx="7239000" cy="6604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4" name="Text 21"/>
          <p:cNvSpPr/>
          <p:nvPr/>
        </p:nvSpPr>
        <p:spPr>
          <a:xfrm>
            <a:off x="8585200" y="2692400"/>
            <a:ext cx="6832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 AI Mentorship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Q3-Q4 2026 — Custom LLM chatbots for student advice and study plans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82000" y="3454400"/>
            <a:ext cx="7239000" cy="660400"/>
          </a:xfrm>
          <a:prstGeom prst="rect">
            <a:avLst/>
          </a:prstGeom>
          <a:solidFill>
            <a:srgbClr val="6D0E0E"/>
          </a:solidFill>
          <a:ln/>
        </p:spPr>
      </p:sp>
      <p:sp>
        <p:nvSpPr>
          <p:cNvPr id="26" name="Text 23"/>
          <p:cNvSpPr/>
          <p:nvPr/>
        </p:nvSpPr>
        <p:spPr>
          <a:xfrm>
            <a:off x="8585200" y="3454400"/>
            <a:ext cx="6832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3: Collaboration Hub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H1 2027 — Shared study calendars, rooms, flashcard systems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82000" y="4216400"/>
            <a:ext cx="7239000" cy="660400"/>
          </a:xfrm>
          <a:prstGeom prst="rect">
            <a:avLst/>
          </a:prstGeom>
          <a:solidFill>
            <a:srgbClr val="5A0A0A"/>
          </a:solidFill>
          <a:ln/>
        </p:spPr>
      </p:sp>
      <p:sp>
        <p:nvSpPr>
          <p:cNvPr id="28" name="Text 25"/>
          <p:cNvSpPr/>
          <p:nvPr/>
        </p:nvSpPr>
        <p:spPr>
          <a:xfrm>
            <a:off x="8585200" y="4216400"/>
            <a:ext cx="6832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4: Global Scale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H2 2028 — Multi-institution support, predictive analytics, automated alert systems for institutional stakeholders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82000" y="50800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Persona &amp; Pedagogical Alignment</a:t>
            </a:r>
            <a:endParaRPr lang="en-US" sz="16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5486400"/>
          <a:ext cx="7239000" cy="2540000"/>
        </p:xfrm>
        <a:graphic>
          <a:graphicData uri="http://schemas.openxmlformats.org/drawingml/2006/table">
            <a:tbl>
              <a:tblPr/>
              <a:tblGrid>
                <a:gridCol w="2026920"/>
                <a:gridCol w="1592580"/>
                <a:gridCol w="36195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Persona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Risk Profile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Pedagogical Focus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High-Risk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 - 40%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Cognitive Load Reduction — 25-min study chunks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Moderate-Risk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40% - 65%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Active Recall — Self-testing guides, study groups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Stable-Pass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65% - 90%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Spaced Repetition — Long-term study calendars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High-Achieving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90% - 100%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Peer Mentorship — Tutoring panels, workshops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200400"/>
          </a:xfrm>
          <a:prstGeom prst="rect">
            <a:avLst/>
          </a:prstGeom>
          <a:gradFill rotWithShape="1" flip="none">
            <a:gsLst>
              <a:gs pos="0">
                <a:srgbClr val="5A0A0A"/>
              </a:gs>
              <a:gs pos="50000">
                <a:srgbClr val="8B1A1A"/>
              </a:gs>
              <a:gs pos="100000">
                <a:srgbClr val="A52020"/>
              </a:gs>
            </a:gsLst>
            <a:lin ang="108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93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4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378200"/>
            <a:ext cx="508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3606800"/>
            <a:ext cx="7112000" cy="22860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37592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40386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NeuroGrade AI v2.4.0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4958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555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Yoni (UI/UX) · H3B (Backend) · Juccj (AI)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49022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Academic Intelligence Through Machine 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533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46000" y="3606800"/>
            <a:ext cx="3302000" cy="3302000"/>
          </a:xfrm>
          <a:prstGeom prst="rect">
            <a:avLst/>
          </a:prstGeom>
          <a:solidFill>
            <a:srgbClr val="8B1A1A">
              <a:alpha val="3137"/>
            </a:srgbClr>
          </a:solidFill>
          <a:ln w="25400">
            <a:solidFill>
              <a:srgbClr val="8B1A1A">
                <a:alpha val="12549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27000" y="3987800"/>
            <a:ext cx="2540000" cy="2540000"/>
          </a:xfrm>
          <a:prstGeom prst="rect">
            <a:avLst/>
          </a:prstGeom>
          <a:solidFill>
            <a:srgbClr val="B8860B">
              <a:alpha val="3137"/>
            </a:srgbClr>
          </a:solidFill>
          <a:ln w="25400">
            <a:solidFill>
              <a:srgbClr val="B8860B">
                <a:alpha val="18824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27000" y="46228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8B1A1A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223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8890000"/>
            <a:ext cx="16256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525000" y="84836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Intercepting scholastic failure before it takes place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NeuroGrade AI - Technical Architecture &amp; Implementation Blueprint</dc:title>
  <dc:subject>NeuroGrade AI - Technical Architecture &amp; Implementation Blueprint</dc:subject>
  <dc:creator>Kimi</dc:creator>
  <cp:lastModifiedBy>Kimi</cp:lastModifiedBy>
  <cp:revision>1</cp:revision>
  <dcterms:created xsi:type="dcterms:W3CDTF">2026-05-29T13:48:00Z</dcterms:created>
  <dcterms:modified xsi:type="dcterms:W3CDTF">2026-05-29T13:48:00Z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{"Label":"NeuroGrade AI - Technical Architecture &amp; Implementation Blueprint","ContentProducer":"001191110108MACG2KBH8F10000","ProduceID":"19e734e0-dac2-81aa-8000-0000d5ce2e1a","ReservedCode1":"","ContentPropagator":"001191110108MACG2KBH8F20000","PropagateID":"19e734e0-dac2-81aa-8000-0000d5ce2e1a","ReservedCode2":""}</vt:lpwstr>
  </property>
</Properties>
</file>